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team FinVeritas and explicitly state that all transfers and beneficiaries shown are synthetic; real settlement is not 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payment providers already exist; this project addresses verifying changing evidence and ensuring authorization remains bound to the intended payment.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Scoring percentages and topic are taken from the provided international rules. Do not describe the demo corridor list as authorized real-bank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a single example from the prepared synthetic invoice. Emphasize that approval is case-and-quote specific, not a global permission.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standalone preview has been exercised with real API requests. The Next.js production build has not been verified because npm registry access was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BPCE is not cryptographic payment mandate verification. Existing protocols such as AP2 already cover related mandate/authorization ideas.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between Payment Lab and BPCE inspector. Never say the example university or bank account has been externally authenticated.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generated benchmark is reproducible, not a random sample of real payments. Held-out labels are not independently audited.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numbers come from benchmark results JSON in the ZIP. They are not statistical evidence of real-world finance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Explicitly acknowledge the inability to generalize. This project is not fraud detection software validated on human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give a test count unless the release report is final; show the exact count from current verification. If asked whether the project is deployable, explain the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 about BPCE failure modes, baselines, authorization binding and the path to independent data. End in under 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6DFC0"/>
                </a:solidFill>
                <a:latin typeface="Aptos"/>
              </a:defRPr>
            </a:pPr>
            <a:r>
              <a:t>SHENZHEN FINTECHATHON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155680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4FAFF"/>
                </a:solidFill>
                <a:latin typeface="Aptos"/>
              </a:defRPr>
            </a:pPr>
            <a:r>
              <a:t>BorderProof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Evidence-consistent student tuition assistance | International AI Topic C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28816"/>
            <a:ext cx="11045952" cy="11887"/>
          </a:xfrm>
          <a:prstGeom prst="rect">
            <a:avLst/>
          </a:prstGeom>
          <a:solidFill>
            <a:srgbClr val="2F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FINVERITAS  •  BORDERPROOF AI  •  INTERNAL SYNTHETIC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6224" y="6565392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01/12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9144000" cy="11338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4FAFF"/>
                </a:solidFill>
                <a:latin typeface="Aptos"/>
              </a:defRPr>
            </a:pPr>
            <a:r>
              <a:t>Verify the evidence.</a:t>
            </a:r>
          </a:p>
          <a:p>
            <a:pPr>
              <a:spcAft>
                <a:spcPts val="800"/>
              </a:spcAft>
              <a:defRPr sz="3600" b="1">
                <a:solidFill>
                  <a:srgbClr val="F4FAFF"/>
                </a:solidFill>
                <a:latin typeface="Aptos"/>
              </a:defRPr>
            </a:pPr>
            <a:r>
              <a:t>Protect the authorization.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4178808"/>
            <a:ext cx="6766560" cy="694944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352544"/>
            <a:ext cx="64008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6DFC0"/>
                </a:solidFill>
                <a:latin typeface="Aptos"/>
              </a:defRPr>
            </a:pPr>
            <a:r>
              <a:t>Team FinVeritas  •  English defense  •  10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230368"/>
            <a:ext cx="91440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EC578"/>
                </a:solidFill>
                <a:latin typeface="Aptos"/>
              </a:defRPr>
            </a:pPr>
            <a:r>
              <a:t>DEMONSTRATION SOFTWARE — NOT A BANK OR LIVE PAYMENT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6DFC0"/>
                </a:solidFill>
                <a:latin typeface="Aptos"/>
              </a:defRPr>
            </a:pPr>
            <a:r>
              <a:t>01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155680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4FAFF"/>
                </a:solidFill>
                <a:latin typeface="Aptos"/>
              </a:defRPr>
            </a:pPr>
            <a:r>
              <a:t>Tuition payments fail at evidence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A student can receive a plausible invoice that contains changed beneficiary details.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28816"/>
            <a:ext cx="11045952" cy="11887"/>
          </a:xfrm>
          <a:prstGeom prst="rect">
            <a:avLst/>
          </a:prstGeom>
          <a:solidFill>
            <a:srgbClr val="2F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FINVERITAS  •  BORDERPROOF AI  •  INTERNAL SYNTHETIC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6224" y="6565392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02/12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75104"/>
            <a:ext cx="3474720" cy="2944368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5" y="2194560"/>
            <a:ext cx="50292" cy="393192"/>
          </a:xfrm>
          <a:prstGeom prst="rect">
            <a:avLst/>
          </a:prstGeom>
          <a:solidFill>
            <a:srgbClr val="6FB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194560"/>
            <a:ext cx="288036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Evidence can conflict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788920"/>
            <a:ext cx="2834639" cy="20025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Invoice, recipient and university banking instructions may contradict one another.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975104"/>
            <a:ext cx="3474720" cy="2944368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2194560"/>
            <a:ext cx="50292" cy="393192"/>
          </a:xfrm>
          <a:prstGeom prst="rect">
            <a:avLst/>
          </a:prstGeom>
          <a:solidFill>
            <a:srgbClr val="FE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194560"/>
            <a:ext cx="288036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Approval can become stale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788920"/>
            <a:ext cx="2834639" cy="20025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A quote or beneficiary can change after the student approves a transfer.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975104"/>
            <a:ext cx="3474720" cy="2944368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38744" y="2194560"/>
            <a:ext cx="50292" cy="393192"/>
          </a:xfrm>
          <a:prstGeom prst="rect">
            <a:avLst/>
          </a:prstGeom>
          <a:solidFill>
            <a:srgbClr val="FF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94560"/>
            <a:ext cx="288036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Agent output can mislead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88920"/>
            <a:ext cx="2834639" cy="20025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An LLM explanation or forged tool response must not count as payment proof.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5367528"/>
            <a:ext cx="107899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6DFC0"/>
                </a:solidFill>
                <a:latin typeface="Aptos"/>
              </a:defRPr>
            </a:pPr>
            <a:r>
              <a:t>Core design principle: untrusted content must never become execution authority.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6DFC0"/>
                </a:solidFill>
                <a:latin typeface="Aptos"/>
              </a:defRPr>
            </a:pPr>
            <a:r>
              <a:t>02 / COMPETITION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155680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4FAFF"/>
                </a:solidFill>
                <a:latin typeface="Aptos"/>
              </a:defRPr>
            </a:pPr>
            <a:r>
              <a:t>Why Topic C and why an AI participant?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International students need understandable, auditable cross-border tuition workflows.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28816"/>
            <a:ext cx="11045952" cy="11887"/>
          </a:xfrm>
          <a:prstGeom prst="rect">
            <a:avLst/>
          </a:prstGeom>
          <a:solidFill>
            <a:srgbClr val="2F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FINVERITAS  •  BORDERPROOF AI  •  INTERNAL SYNTHETIC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6224" y="6565392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03/12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3657600" cy="2816352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5" y="2093976"/>
            <a:ext cx="50292" cy="393192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93976"/>
            <a:ext cx="306324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TASK COMPLETION · 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688336"/>
            <a:ext cx="3017520" cy="18745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Working case → invoice → synthetic beneficiary match → quote → approval → simulated transfer → receipt.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74519"/>
            <a:ext cx="3456432" cy="2816352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08576" y="2093976"/>
            <a:ext cx="50292" cy="393192"/>
          </a:xfrm>
          <a:prstGeom prst="rect">
            <a:avLst/>
          </a:prstGeom>
          <a:solidFill>
            <a:srgbClr val="6FB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2093976"/>
            <a:ext cx="2862072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SECURITY · 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688336"/>
            <a:ext cx="2816352" cy="18745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Role/tenant guards, consent binding, fresh evidence checks, negative tests and audit chain.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1874519"/>
            <a:ext cx="3511296" cy="2816352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1311" y="2093976"/>
            <a:ext cx="50292" cy="393192"/>
          </a:xfrm>
          <a:prstGeom prst="rect">
            <a:avLst/>
          </a:prstGeom>
          <a:solidFill>
            <a:srgbClr val="FE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2093976"/>
            <a:ext cx="2916936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INNOVATION · 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688336"/>
            <a:ext cx="2871215" cy="18745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Student-specific BPCE dependency checks and a reproducible synthetic fault benchmark.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84064"/>
            <a:ext cx="10515600" cy="7040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A0B5CB"/>
                </a:solidFill>
                <a:latin typeface="Aptos"/>
              </a:defRPr>
            </a:pPr>
            <a:r>
              <a:t>Scope: Bangladesh → UK / USA / Canada *demo corridors*; legal eligibility unverified.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6DFC0"/>
                </a:solidFill>
                <a:latin typeface="Aptos"/>
              </a:defRPr>
            </a:pPr>
            <a:r>
              <a:t>03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155680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4FAFF"/>
                </a:solidFill>
                <a:latin typeface="Aptos"/>
              </a:defRPr>
            </a:pPr>
            <a:r>
              <a:t>One auditable tuition-payment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The backend enforces control points; the UI cannot bypass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28816"/>
            <a:ext cx="11045952" cy="11887"/>
          </a:xfrm>
          <a:prstGeom prst="rect">
            <a:avLst/>
          </a:prstGeom>
          <a:solidFill>
            <a:srgbClr val="2F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FINVERITAS  •  BORDERPROOF AI  •  INTERNAL SYNTHETIC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6224" y="6565392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04/12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2286000"/>
            <a:ext cx="1490472" cy="1207008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459736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6DFC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52928"/>
            <a:ext cx="13075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4FAFF"/>
                </a:solidFill>
                <a:latin typeface="Aptos"/>
              </a:defRPr>
            </a:pPr>
            <a:r>
              <a:t>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8256" y="2734056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46DFC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12848" y="2286000"/>
            <a:ext cx="1490472" cy="1207008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40864" y="2459736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6DFC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2576" y="2852928"/>
            <a:ext cx="13075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4FAFF"/>
                </a:solidFill>
                <a:latin typeface="Aptos"/>
              </a:defRPr>
            </a:pPr>
            <a:r>
              <a:t>Invoice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2734056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46DFC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9624" y="2286000"/>
            <a:ext cx="1490472" cy="1207008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39" y="2459736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6DFC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9352" y="2852928"/>
            <a:ext cx="13075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4FAF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2734056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46DFC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2286000"/>
            <a:ext cx="1490472" cy="1207008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14416" y="2459736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6DFC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2852928"/>
            <a:ext cx="13075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4FAFF"/>
                </a:solidFill>
                <a:latin typeface="Aptos"/>
              </a:defRPr>
            </a:pPr>
            <a:r>
              <a:t>Quote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2734056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46DFC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23176" y="2286000"/>
            <a:ext cx="1490472" cy="1207008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51192" y="2459736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6DFC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2904" y="2852928"/>
            <a:ext cx="13075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4FAFF"/>
                </a:solidFill>
                <a:latin typeface="Aptos"/>
              </a:defRPr>
            </a:pPr>
            <a:r>
              <a:t>Approval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734056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46DFC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59952" y="2286000"/>
            <a:ext cx="1490472" cy="1207008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2459736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6DFC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2852928"/>
            <a:ext cx="13075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4FAFF"/>
                </a:solidFill>
                <a:latin typeface="Aptos"/>
              </a:defRPr>
            </a:pPr>
            <a:r>
              <a:t>Sandbox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32136" y="2734056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46DFC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96728" y="2286000"/>
            <a:ext cx="1490472" cy="1207008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24744" y="2459736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46DFC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6456" y="2852928"/>
            <a:ext cx="130759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4FAFF"/>
                </a:solidFill>
                <a:latin typeface="Aptos"/>
              </a:defRPr>
            </a:pPr>
            <a:r>
              <a:t>Receipt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041648"/>
            <a:ext cx="10753344" cy="960120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" y="4270248"/>
            <a:ext cx="10232136" cy="5394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4FAFF"/>
                </a:solidFill>
                <a:latin typeface="Aptos"/>
              </a:defRPr>
            </a:pPr>
            <a:r>
              <a:t>Fail closed on missing evidence, tampering, recipient conflict or expired authorization.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6DFC0"/>
                </a:solidFill>
                <a:latin typeface="Aptos"/>
              </a:defRPr>
            </a:pPr>
            <a:r>
              <a:t>04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155680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4FAFF"/>
                </a:solidFill>
                <a:latin typeface="Aptos"/>
              </a:defRPr>
            </a:pPr>
            <a:r>
              <a:t>Real app state, independently enforced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Frontend is a Next.js source project plus verified FastAPI standalone preview.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28816"/>
            <a:ext cx="11045952" cy="11887"/>
          </a:xfrm>
          <a:prstGeom prst="rect">
            <a:avLst/>
          </a:prstGeom>
          <a:solidFill>
            <a:srgbClr val="2F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FINVERITAS  •  BORDERPROOF AI  •  INTERNAL SYNTHETIC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6224" y="6565392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05/12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65376"/>
            <a:ext cx="3447288" cy="2999232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3" y="2084832"/>
            <a:ext cx="50292" cy="393192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84832"/>
            <a:ext cx="2852928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USER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79192"/>
            <a:ext cx="2807208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Next.js source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Standalone browser preview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EN · 简体中文 · বাংলা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65376"/>
            <a:ext cx="3447288" cy="2999232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44568" y="2084832"/>
            <a:ext cx="50292" cy="393192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2084832"/>
            <a:ext cx="2852928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API / BPCE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2679192"/>
            <a:ext cx="2807208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FastAPI validation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Policy and ownership checks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Quote and consent binding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1865376"/>
            <a:ext cx="3447288" cy="2999232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2084832"/>
            <a:ext cx="50292" cy="393192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2084832"/>
            <a:ext cx="2852928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DATA /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679192"/>
            <a:ext cx="2807208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SQLite local demo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Double-entry sim ledger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Hash-linked local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7608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EC578"/>
                </a:solidFill>
                <a:latin typeface="Aptos"/>
              </a:defRPr>
            </a:pPr>
            <a:r>
              <a:t>No financial-provider credentials. No bank settlement. No external identity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6DFC0"/>
                </a:solidFill>
                <a:latin typeface="Aptos"/>
              </a:defRPr>
            </a:pPr>
            <a:r>
              <a:t>05 / BPCE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155680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4FAFF"/>
                </a:solidFill>
                <a:latin typeface="Aptos"/>
              </a:defRPr>
            </a:pPr>
            <a:r>
              <a:t>The BorderProof Consistency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An execution-time recheck, not an assertion from model 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28816"/>
            <a:ext cx="11045952" cy="11887"/>
          </a:xfrm>
          <a:prstGeom prst="rect">
            <a:avLst/>
          </a:prstGeom>
          <a:solidFill>
            <a:srgbClr val="2F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FINVERITAS  •  BORDERPROOF AI  •  INTERNAL SYNTHETIC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6224" y="6565392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06/12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" y="1856231"/>
            <a:ext cx="5266944" cy="3035808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" y="2075687"/>
            <a:ext cx="50292" cy="393192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5" y="2075687"/>
            <a:ext cx="4672583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BOUND DEPENDENCIES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2670048"/>
            <a:ext cx="4626864" cy="20939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Document SHA-256 and parser values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Case amount / currency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Beneficiary from synthetic registry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Provider quote and expiry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Authorization scope / evidence-set version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856231"/>
            <a:ext cx="5294376" cy="3035808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73368" y="2075687"/>
            <a:ext cx="50292" cy="393192"/>
          </a:xfrm>
          <a:prstGeom prst="rect">
            <a:avLst/>
          </a:prstGeom>
          <a:solidFill>
            <a:srgbClr val="FF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2075687"/>
            <a:ext cx="4700016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NEGATIVE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670048"/>
            <a:ext cx="4654296" cy="20939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Changed amount or recipient → block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Uploaded new evidence → invalidate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Stale quote → reject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Forged simulator response → reject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Untrusted instructions → flag / stop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266944"/>
            <a:ext cx="1078992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A0B5CB"/>
                </a:solidFill>
                <a:latin typeface="Aptos"/>
              </a:defRPr>
            </a:pPr>
            <a:r>
              <a:t>Security claims are limited to the tested internal simulator and local threat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6DFC0"/>
                </a:solidFill>
                <a:latin typeface="Aptos"/>
              </a:defRPr>
            </a:pPr>
            <a:r>
              <a:t>06 /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155680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4FAFF"/>
                </a:solidFill>
                <a:latin typeface="Aptos"/>
              </a:defRPr>
            </a:pPr>
            <a:r>
              <a:t>Show one safe completion and one deliberate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Demonstrate observable backend state and explain failed outcomes.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28816"/>
            <a:ext cx="11045952" cy="11887"/>
          </a:xfrm>
          <a:prstGeom prst="rect">
            <a:avLst/>
          </a:prstGeom>
          <a:solidFill>
            <a:srgbClr val="2F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FINVERITAS  •  BORDERPROOF AI  •  INTERNAL SYNTHETIC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6224" y="6565392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07/12</a:t>
            </a:r>
          </a:p>
        </p:txBody>
      </p:sp>
      <p:pic>
        <p:nvPicPr>
          <p:cNvPr id="9" name="Picture 8" descr="V3_BPCE_STUDEN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892807"/>
            <a:ext cx="5577840" cy="3429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0" y="1874519"/>
            <a:ext cx="4928616" cy="1536192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57416" y="2093976"/>
            <a:ext cx="50292" cy="393192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2093976"/>
            <a:ext cx="4334255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2688336"/>
            <a:ext cx="4288536" cy="5943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Synthetic correct fixture → explicit approval → COMPLETED simulation.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602736"/>
            <a:ext cx="4928616" cy="1527048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57416" y="3822191"/>
            <a:ext cx="50292" cy="393192"/>
          </a:xfrm>
          <a:prstGeom prst="rect">
            <a:avLst/>
          </a:prstGeom>
          <a:solidFill>
            <a:srgbClr val="FF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822191"/>
            <a:ext cx="4334255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4416552"/>
            <a:ext cx="4288536" cy="58521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Changed beneficiary or expired quote → HTTP 409 / no debit.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669280"/>
            <a:ext cx="100584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Evidence comes from generated DB receipts and reproducible test cases.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6DFC0"/>
                </a:solidFill>
                <a:latin typeface="Aptos"/>
              </a:defRPr>
            </a:pPr>
            <a:r>
              <a:t>07 / STUPAY-INTEGRITYBENCH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155680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4FAFF"/>
                </a:solidFill>
                <a:latin typeface="Aptos"/>
              </a:defRPr>
            </a:pPr>
            <a:r>
              <a:t>300 authored synthetic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The holdout set is 60 examples; labels and heuristics are project-authored, not blind expert-validated.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28816"/>
            <a:ext cx="11045952" cy="11887"/>
          </a:xfrm>
          <a:prstGeom prst="rect">
            <a:avLst/>
          </a:prstGeom>
          <a:solidFill>
            <a:srgbClr val="2F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FINVERITAS  •  BORDERPROOF AI  •  INTERNAL SYNTHETIC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6224" y="6565392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08/12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2642616" cy="1408176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20824"/>
            <a:ext cx="233172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46DFC0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51760"/>
            <a:ext cx="243230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4FAFF"/>
                </a:solidFill>
                <a:latin typeface="Aptos"/>
              </a:defRPr>
            </a:pPr>
            <a:r>
              <a:t>Legitimate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874519"/>
            <a:ext cx="2642616" cy="1408176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8184" y="2020824"/>
            <a:ext cx="233172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46DFC0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4" y="2651760"/>
            <a:ext cx="243230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4FAFF"/>
                </a:solidFill>
                <a:latin typeface="Aptos"/>
              </a:defRPr>
            </a:pPr>
            <a:r>
              <a:t>Incomplete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74519"/>
            <a:ext cx="2642616" cy="1408176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4" y="2020824"/>
            <a:ext cx="233172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46DFC0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2651760"/>
            <a:ext cx="243230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4FAFF"/>
                </a:solidFill>
                <a:latin typeface="Aptos"/>
              </a:defRPr>
            </a:pPr>
            <a:r>
              <a:t>Recipient conflict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874519"/>
            <a:ext cx="2642616" cy="1408176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8904" y="2020824"/>
            <a:ext cx="233172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46DFC0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18904" y="2651760"/>
            <a:ext cx="243230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4FAFF"/>
                </a:solidFill>
                <a:latin typeface="Aptos"/>
              </a:defRPr>
            </a:pPr>
            <a:r>
              <a:t>Prompt injection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557015"/>
            <a:ext cx="2642616" cy="1408176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703320"/>
            <a:ext cx="233172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46DFC0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334255"/>
            <a:ext cx="243230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4FAFF"/>
                </a:solidFill>
                <a:latin typeface="Aptos"/>
              </a:defRPr>
            </a:pPr>
            <a:r>
              <a:t>Approval changes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3557015"/>
            <a:ext cx="2642616" cy="1408176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58184" y="3703320"/>
            <a:ext cx="233172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46DFC0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58184" y="4334255"/>
            <a:ext cx="243230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4FAFF"/>
                </a:solidFill>
                <a:latin typeface="Aptos"/>
              </a:defRPr>
            </a:pPr>
            <a:r>
              <a:t>Failure &amp; recovery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557015"/>
            <a:ext cx="2642616" cy="1408176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544" y="3703320"/>
            <a:ext cx="233172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46DFC0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4334255"/>
            <a:ext cx="2432304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4FAFF"/>
                </a:solidFill>
                <a:latin typeface="Aptos"/>
              </a:defRPr>
            </a:pPr>
            <a:r>
              <a:t>Corridor conflict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614416"/>
            <a:ext cx="107899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Split: 240 development + 60 stratified holdout · 8 hand-coded policy variants.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6DFC0"/>
                </a:solidFill>
                <a:latin typeface="Aptos"/>
              </a:defRPr>
            </a:pPr>
            <a:r>
              <a:t>08 / MEASURED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155680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4FAFF"/>
                </a:solidFill>
                <a:latin typeface="Aptos"/>
              </a:defRPr>
            </a:pPr>
            <a:r>
              <a:t>Unsafe scenarios accepted in 60-case holdout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Lower is better · 48 unsafe-labelled cases · policy proxies are NOT LLMs or AP2.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28816"/>
            <a:ext cx="11045952" cy="11887"/>
          </a:xfrm>
          <a:prstGeom prst="rect">
            <a:avLst/>
          </a:prstGeom>
          <a:solidFill>
            <a:srgbClr val="2F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FINVERITAS  •  BORDERPROOF AI  •  INTERNAL SYNTHETIC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6224" y="6565392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09/12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29968"/>
            <a:ext cx="2825496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4FAFF"/>
                </a:solidFill>
                <a:latin typeface="Aptos"/>
              </a:defRPr>
            </a:pPr>
            <a:r>
              <a:t>Heuristic proxy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5032" y="2029968"/>
            <a:ext cx="6519672" cy="374904"/>
          </a:xfrm>
          <a:prstGeom prst="roundRect">
            <a:avLst>
              <a:gd name="adj" fmla="val 9000"/>
            </a:avLst>
          </a:prstGeom>
          <a:solidFill>
            <a:srgbClr val="1F3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85032" y="2029968"/>
            <a:ext cx="5161407" cy="374904"/>
          </a:xfrm>
          <a:prstGeom prst="roundRect">
            <a:avLst>
              <a:gd name="adj" fmla="val 9000"/>
            </a:avLst>
          </a:prstGeom>
          <a:solidFill>
            <a:srgbClr val="6FB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78440" y="2002536"/>
            <a:ext cx="114300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6FB3FA"/>
                </a:solidFill>
                <a:latin typeface="Aptos"/>
              </a:defRPr>
            </a:pPr>
            <a:r>
              <a:t>38/48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118104"/>
            <a:ext cx="2825496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4FAFF"/>
                </a:solidFill>
                <a:latin typeface="Aptos"/>
              </a:defRPr>
            </a:pPr>
            <a:r>
              <a:t>AP2-inspired proxy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85032" y="3118104"/>
            <a:ext cx="6519672" cy="374904"/>
          </a:xfrm>
          <a:prstGeom prst="roundRect">
            <a:avLst>
              <a:gd name="adj" fmla="val 9000"/>
            </a:avLst>
          </a:prstGeom>
          <a:solidFill>
            <a:srgbClr val="1F3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3118104"/>
            <a:ext cx="2716530" cy="374904"/>
          </a:xfrm>
          <a:prstGeom prst="roundRect">
            <a:avLst>
              <a:gd name="adj" fmla="val 9000"/>
            </a:avLst>
          </a:prstGeom>
          <a:solidFill>
            <a:srgbClr val="FE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78440" y="3090672"/>
            <a:ext cx="114300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EC578"/>
                </a:solidFill>
                <a:latin typeface="Aptos"/>
              </a:defRPr>
            </a:pPr>
            <a:r>
              <a:t>20/48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206240"/>
            <a:ext cx="2825496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4FAFF"/>
                </a:solidFill>
                <a:latin typeface="Aptos"/>
              </a:defRPr>
            </a:pPr>
            <a:r>
              <a:t>BPCE core proxy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85032" y="4206240"/>
            <a:ext cx="6519672" cy="374904"/>
          </a:xfrm>
          <a:prstGeom prst="roundRect">
            <a:avLst>
              <a:gd name="adj" fmla="val 9000"/>
            </a:avLst>
          </a:prstGeom>
          <a:solidFill>
            <a:srgbClr val="1F3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85032" y="4206240"/>
            <a:ext cx="679132" cy="374904"/>
          </a:xfrm>
          <a:prstGeom prst="roundRect">
            <a:avLst>
              <a:gd name="adj" fmla="val 9000"/>
            </a:avLst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4178807"/>
            <a:ext cx="114300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46DFC0"/>
                </a:solidFill>
                <a:latin typeface="Aptos"/>
              </a:defRPr>
            </a:pPr>
            <a:r>
              <a:t>5/48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5550408"/>
            <a:ext cx="1088136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8F88"/>
                </a:solidFill>
                <a:latin typeface="Aptos"/>
              </a:defRPr>
            </a:pPr>
            <a:r>
              <a:t>BPCE also rejected 3/12 legitimate cases (25% false rejection in this synthetic holdout).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6DFC0"/>
                </a:solidFill>
                <a:latin typeface="Aptos"/>
              </a:defRPr>
            </a:pPr>
            <a:r>
              <a:t>09 / FAILURE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155680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4FAFF"/>
                </a:solidFill>
                <a:latin typeface="Aptos"/>
              </a:defRPr>
            </a:pPr>
            <a:r>
              <a:t>Where the current system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Measuring faults is more useful than claiming perfect accuracy.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28816"/>
            <a:ext cx="11045952" cy="11887"/>
          </a:xfrm>
          <a:prstGeom prst="rect">
            <a:avLst/>
          </a:prstGeom>
          <a:solidFill>
            <a:srgbClr val="2F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FINVERITAS  •  BORDERPROOF AI  •  INTERNAL SYNTHETIC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6224" y="6565392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10/12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83664"/>
            <a:ext cx="3447288" cy="3017520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3" y="2103120"/>
            <a:ext cx="50292" cy="393192"/>
          </a:xfrm>
          <a:prstGeom prst="rect">
            <a:avLst/>
          </a:prstGeom>
          <a:solidFill>
            <a:srgbClr val="FF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03120"/>
            <a:ext cx="2852928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50% evasion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97480"/>
            <a:ext cx="2807208" cy="20756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Held-out prompt-injection family evaded the heuristic BPCE proxy.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83664"/>
            <a:ext cx="3447288" cy="3017520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44568" y="2103120"/>
            <a:ext cx="50292" cy="393192"/>
          </a:xfrm>
          <a:prstGeom prst="rect">
            <a:avLst/>
          </a:prstGeom>
          <a:solidFill>
            <a:srgbClr val="FE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2103120"/>
            <a:ext cx="2852928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25% false rejects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2697480"/>
            <a:ext cx="2807208" cy="20756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Three of 12 legitimate synthetic cases were not completed by the BPCE proxy.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883664"/>
            <a:ext cx="3447288" cy="3017520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7031" y="2103120"/>
            <a:ext cx="50292" cy="393192"/>
          </a:xfrm>
          <a:prstGeom prst="rect">
            <a:avLst/>
          </a:prstGeom>
          <a:solidFill>
            <a:srgbClr val="6FB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2103120"/>
            <a:ext cx="2852928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External trust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697480"/>
            <a:ext cx="2807208" cy="20756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No real beneficiary attestations, provider settlement or regulatory clearance.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266944"/>
            <a:ext cx="1088136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6DFC0"/>
                </a:solidFill>
                <a:latin typeface="Aptos"/>
              </a:defRPr>
            </a:pPr>
            <a:r>
              <a:t>Most important next experiment: independently labelled tasks with real comparable agent baselines.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6DFC0"/>
                </a:solidFill>
                <a:latin typeface="Aptos"/>
              </a:defRPr>
            </a:pPr>
            <a:r>
              <a:t>10 / EVALUATION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155680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4FAFF"/>
                </a:solidFill>
                <a:latin typeface="Aptos"/>
              </a:defRPr>
            </a:pPr>
            <a:r>
              <a:t>Implementation checks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Evidence categories must not be conflated.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28816"/>
            <a:ext cx="11045952" cy="11887"/>
          </a:xfrm>
          <a:prstGeom prst="rect">
            <a:avLst/>
          </a:prstGeom>
          <a:solidFill>
            <a:srgbClr val="2F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FINVERITAS  •  BORDERPROOF AI  •  INTERNAL SYNTHETIC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6224" y="6565392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11/12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47088"/>
            <a:ext cx="5303520" cy="2962656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066543"/>
            <a:ext cx="50292" cy="393192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066543"/>
            <a:ext cx="4709159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REPRODUCIBLE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660904"/>
            <a:ext cx="4663440" cy="20208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Pytest API/security suite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Chromium browser interactions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Local DB upgrade path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Benchmark corpus and CSV traces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Demo export with SHA-256 digest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847088"/>
            <a:ext cx="5330952" cy="2962656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2066543"/>
            <a:ext cx="50292" cy="393192"/>
          </a:xfrm>
          <a:prstGeom prst="rect">
            <a:avLst/>
          </a:prstGeom>
          <a:solidFill>
            <a:srgbClr val="FEC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066543"/>
            <a:ext cx="4736592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FAFF"/>
                </a:solidFill>
                <a:latin typeface="Aptos"/>
              </a:defRPr>
            </a:pPr>
            <a:r>
              <a:t>STILL UNVERIFIED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660904"/>
            <a:ext cx="4690872" cy="20208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Next.js production build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Docker image deployment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Provider sandbox integrations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Independent benchmark labels</a:t>
            </a:r>
          </a:p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Production auth / step-up / KYC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7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6D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2860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6DFC0"/>
                </a:solidFill>
                <a:latin typeface="Aptos"/>
              </a:defRPr>
            </a:pPr>
            <a:r>
              <a:t>11 /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155680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4FAFF"/>
                </a:solidFill>
                <a:latin typeface="Aptos"/>
              </a:defRPr>
            </a:pPr>
            <a:r>
              <a:t>Evidence before execution. Accountability after.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16736"/>
            <a:ext cx="1106424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A measurable student-finance simulator with a defined path to real validation.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28816"/>
            <a:ext cx="11045952" cy="11887"/>
          </a:xfrm>
          <a:prstGeom prst="rect">
            <a:avLst/>
          </a:prstGeom>
          <a:solidFill>
            <a:srgbClr val="2F5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FINVERITAS  •  BORDERPROOF AI  •  INTERNAL SYNTHETIC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6224" y="6565392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0B5CB"/>
                </a:solidFill>
                <a:latin typeface="Aptos"/>
              </a:defRPr>
            </a:pPr>
            <a:r>
              <a:t>12/12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01952"/>
            <a:ext cx="10652760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46DFC0"/>
                </a:solidFill>
                <a:latin typeface="Aptos"/>
              </a:defRPr>
            </a:pPr>
            <a:r>
              <a:t>What we 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88920"/>
            <a:ext cx="105156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4FAFF"/>
                </a:solidFill>
                <a:latin typeface="Aptos"/>
              </a:defRPr>
            </a:pPr>
            <a:r>
              <a:t>A working synthetic workflow • BPCE checks • replayable test cases • decision receipts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4343400"/>
            <a:ext cx="10515600" cy="822960"/>
          </a:xfrm>
          <a:prstGeom prst="roundRect">
            <a:avLst>
              <a:gd name="adj" fmla="val 9000"/>
            </a:avLst>
          </a:prstGeom>
          <a:solidFill>
            <a:srgbClr val="102A42"/>
          </a:solidFill>
          <a:ln>
            <a:solidFill>
              <a:srgbClr val="2F52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5" y="4553712"/>
            <a:ext cx="101498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EC578"/>
                </a:solidFill>
                <a:latin typeface="Aptos"/>
              </a:defRPr>
            </a:pPr>
            <a:r>
              <a:t>Not an operational payment provider. Not a verified bank integration.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5742432"/>
            <a:ext cx="10369296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5CB"/>
                </a:solidFill>
                <a:latin typeface="Aptos"/>
              </a:defRPr>
            </a:pPr>
            <a:r>
              <a:t>FinVeritas  |  BorderProof AI  |  Source and reproducible artifacts in submission ZIP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